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-320040"/>
            <a:ext cx="2057400" cy="2057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42415" y="777240"/>
            <a:ext cx="8174736" cy="50292"/>
          </a:xfrm>
          <a:prstGeom prst="rect">
            <a:avLst/>
          </a:prstGeom>
          <a:solidFill>
            <a:srgbClr val="2A2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5" y="960120"/>
            <a:ext cx="8686800" cy="8229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0" i="0" u="none">
                <a:solidFill>
                  <a:srgbClr val="2A2E30"/>
                </a:solidFill>
                <a:latin typeface="Garamond"/>
              </a:rPr>
              <a:t>DDMM – Project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1828800"/>
            <a:ext cx="8686800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0" i="0" u="none">
                <a:solidFill>
                  <a:srgbClr val="2A2E30"/>
                </a:solidFill>
                <a:latin typeface="Garamond"/>
              </a:rPr>
              <a:t>Project Title: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5" y="2377440"/>
            <a:ext cx="10241280" cy="1463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4400" b="1" i="0" u="none">
                <a:solidFill>
                  <a:srgbClr val="2A2E30"/>
                </a:solidFill>
                <a:latin typeface="Garamond"/>
              </a:rPr>
              <a:t>Machine Learning-Based Prediction of Bulk Modulus of Crystalline Materials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5" y="4023360"/>
            <a:ext cx="8229600" cy="16459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 i="0" u="none">
                <a:solidFill>
                  <a:srgbClr val="2A2E30"/>
                </a:solidFill>
                <a:latin typeface="Garamond"/>
              </a:rPr>
              <a:t>Student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0" i="0" u="none">
                <a:solidFill>
                  <a:srgbClr val="2A2E30"/>
                </a:solidFill>
                <a:latin typeface="Garamond"/>
              </a:rPr>
              <a:t>B. Gnana Prakash - CB.SC.U4AIE23014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" y="5760720"/>
            <a:ext cx="1005840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 i="0" u="none">
                <a:solidFill>
                  <a:srgbClr val="6B7073"/>
                </a:solidFill>
                <a:latin typeface="Garamond"/>
              </a:rPr>
              <a:t>Dataset: Matbench log_kvrh (10,987 materials)   ·   Code: github.com/Prakash686/ML-based-Bulk-Modulus-Prediction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-320040"/>
            <a:ext cx="2057400" cy="2057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02920"/>
            <a:ext cx="8595360" cy="9144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200" b="1" i="0" u="none">
                <a:solidFill>
                  <a:srgbClr val="2A2E30"/>
                </a:solidFill>
                <a:latin typeface="Garamond"/>
              </a:rPr>
              <a:t>Introduction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89920" cy="1463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just">
              <a:lnSpc>
                <a:spcPct val="110000"/>
              </a:lnSpc>
              <a:spcAft>
                <a:spcPts val="600"/>
              </a:spcAft>
            </a:pPr>
            <a:r>
              <a:rPr sz="2200" b="1" i="0" u="none">
                <a:solidFill>
                  <a:srgbClr val="2A2E30"/>
                </a:solidFill>
                <a:latin typeface="Garamond"/>
              </a:rPr>
              <a:t>Bulk modulus (K)</a:t>
            </a:r>
            <a:r>
              <a:rPr sz="2200" b="0" i="0" u="none">
                <a:solidFill>
                  <a:srgbClr val="2A2E30"/>
                </a:solidFill>
                <a:latin typeface="Garamond"/>
              </a:rPr>
              <a:t> measures a material's resistance to uniform compression - a key property for structural materials, energy systems and electronics. It is normally obtained from first-principles (DFT) calculations, which are accurate but </a:t>
            </a:r>
            <a:r>
              <a:rPr sz="2200" b="1" i="0" u="none">
                <a:solidFill>
                  <a:srgbClr val="2A2E30"/>
                </a:solidFill>
                <a:latin typeface="Garamond"/>
              </a:rPr>
              <a:t>computationally expensive</a:t>
            </a:r>
            <a:r>
              <a:rPr sz="2200" b="0" i="0" u="none">
                <a:solidFill>
                  <a:srgbClr val="2A2E30"/>
                </a:solidFill>
                <a:latin typeface="Garamond"/>
              </a:rPr>
              <a:t>, making large-scale screening of new materials slow.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54680"/>
            <a:ext cx="1078992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200" b="0" i="0" u="sng">
                <a:solidFill>
                  <a:srgbClr val="2A2E30"/>
                </a:solidFill>
                <a:latin typeface="Garamond"/>
              </a:rPr>
              <a:t>This project develops an ML framework that: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10607040" cy="2743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1" i="0" u="none">
                <a:solidFill>
                  <a:srgbClr val="A81C5C"/>
                </a:solidFill>
                <a:latin typeface="Garamond"/>
              </a:rPr>
              <a:t>•  </a:t>
            </a:r>
            <a:r>
              <a:rPr sz="2100" b="0" i="0" u="none">
                <a:solidFill>
                  <a:srgbClr val="2A2E30"/>
                </a:solidFill>
                <a:latin typeface="Garamond"/>
              </a:rPr>
              <a:t>Converts crystal structures into meaningful numerical descriptors (composition + structure)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1" i="0" u="none">
                <a:solidFill>
                  <a:srgbClr val="A81C5C"/>
                </a:solidFill>
                <a:latin typeface="Garamond"/>
              </a:rPr>
              <a:t>•  </a:t>
            </a:r>
            <a:r>
              <a:rPr sz="2100" b="0" i="0" u="none">
                <a:solidFill>
                  <a:srgbClr val="2A2E30"/>
                </a:solidFill>
                <a:latin typeface="Garamond"/>
              </a:rPr>
              <a:t>Trains and systematically compares Linear Regression, Random Forest, MLP and Gradient Boosting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1" i="0" u="none">
                <a:solidFill>
                  <a:srgbClr val="A81C5C"/>
                </a:solidFill>
                <a:latin typeface="Garamond"/>
              </a:rPr>
              <a:t>•  </a:t>
            </a:r>
            <a:r>
              <a:rPr sz="2100" b="0" i="0" u="none">
                <a:solidFill>
                  <a:srgbClr val="2A2E30"/>
                </a:solidFill>
                <a:latin typeface="Garamond"/>
              </a:rPr>
              <a:t>Predicts log10(K_VRH) for unseen materials in milliseconds instead of hours of DFT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1" i="0" u="none">
                <a:solidFill>
                  <a:srgbClr val="A81C5C"/>
                </a:solidFill>
                <a:latin typeface="Garamond"/>
              </a:rPr>
              <a:t>•  </a:t>
            </a:r>
            <a:r>
              <a:rPr sz="2100" b="0" i="0" u="none">
                <a:solidFill>
                  <a:srgbClr val="2A2E30"/>
                </a:solidFill>
                <a:latin typeface="Garamond"/>
              </a:rPr>
              <a:t>Identifies which descriptors drive stiffness, for physical interpretability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1" i="0" u="none">
                <a:solidFill>
                  <a:srgbClr val="A81C5C"/>
                </a:solidFill>
                <a:latin typeface="Garamond"/>
              </a:rPr>
              <a:t>•  </a:t>
            </a:r>
            <a:r>
              <a:rPr sz="2100" b="0" i="0" u="none">
                <a:solidFill>
                  <a:srgbClr val="2A2E30"/>
                </a:solidFill>
                <a:latin typeface="Garamond"/>
              </a:rPr>
              <a:t>Delivers an interactive web app to predict K from a formula or a crystal structure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400" b="0" i="0" u="none">
                <a:solidFill>
                  <a:srgbClr val="6B7073"/>
                </a:solidFill>
                <a:latin typeface="Garamon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-320040"/>
            <a:ext cx="2057400" cy="2057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02920"/>
            <a:ext cx="8595360" cy="9144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200" b="1" i="0" u="none">
                <a:solidFill>
                  <a:srgbClr val="2A2E30"/>
                </a:solidFill>
                <a:latin typeface="Garamond"/>
              </a:rPr>
              <a:t>Dataset – Matbench log_kvrh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859536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 u="none">
                <a:solidFill>
                  <a:srgbClr val="6B7073"/>
                </a:solidFill>
                <a:latin typeface="Garamond"/>
              </a:rPr>
              <a:t>Standardised materials-ML benchmark derived from the Materials Project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65960"/>
          <a:ext cx="539496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38328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Garamond"/>
                        </a:rPr>
                        <a:t>Property</a:t>
                      </a:r>
                    </a:p>
                  </a:txBody>
                  <a:tcPr marL="73152" marR="73152" anchor="ctr">
                    <a:solidFill>
                      <a:srgbClr val="2A2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Garamond"/>
                        </a:rPr>
                        <a:t>Value</a:t>
                      </a:r>
                    </a:p>
                  </a:txBody>
                  <a:tcPr marL="73152" marR="73152" anchor="ctr">
                    <a:solidFill>
                      <a:srgbClr val="2A2E3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Samples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10,987 crystals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Input</a:t>
                      </a:r>
                    </a:p>
                  </a:txBody>
                  <a:tcPr marL="73152" marR="73152" anchor="ctr">
                    <a:solidFill>
                      <a:srgbClr val="F3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Crystal structure (pymatgen)</a:t>
                      </a:r>
                    </a:p>
                  </a:txBody>
                  <a:tcPr marL="73152" marR="73152" anchor="ctr">
                    <a:solidFill>
                      <a:srgbClr val="F3F1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Target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log10(K_VRH / GPa)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K range</a:t>
                      </a:r>
                    </a:p>
                  </a:txBody>
                  <a:tcPr marL="73152" marR="73152" anchor="ctr">
                    <a:solidFill>
                      <a:srgbClr val="F3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1 – 575 GPa</a:t>
                      </a:r>
                    </a:p>
                  </a:txBody>
                  <a:tcPr marL="73152" marR="73152" anchor="ctr">
                    <a:solidFill>
                      <a:srgbClr val="F3F1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Median K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86 GPa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Split</a:t>
                      </a:r>
                    </a:p>
                  </a:txBody>
                  <a:tcPr marL="73152" marR="73152" anchor="ctr">
                    <a:solidFill>
                      <a:srgbClr val="F3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80% train / 20% test</a:t>
                      </a:r>
                    </a:p>
                  </a:txBody>
                  <a:tcPr marL="73152" marR="73152" anchor="ctr">
                    <a:solidFill>
                      <a:srgbClr val="F3F1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029200"/>
            <a:ext cx="5394960" cy="16459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 u="none">
                <a:solidFill>
                  <a:srgbClr val="2A2E30"/>
                </a:solidFill>
                <a:latin typeface="Garamond"/>
              </a:rPr>
              <a:t>K_VRH</a:t>
            </a:r>
            <a:r>
              <a:rPr sz="1700" b="0" i="0" u="none">
                <a:solidFill>
                  <a:srgbClr val="2A2E30"/>
                </a:solidFill>
                <a:latin typeface="Garamond"/>
              </a:rPr>
              <a:t> = Voigt-Reuss-Hill average: Hill takes the mean of the Voigt (upper) and Reuss (lower) bounds.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 u="none">
                <a:solidFill>
                  <a:srgbClr val="2A2E30"/>
                </a:solidFill>
                <a:latin typeface="Garamond"/>
              </a:rPr>
              <a:t>Why log10? </a:t>
            </a:r>
            <a:r>
              <a:rPr sz="1700" b="0" i="0" u="none">
                <a:solidFill>
                  <a:srgbClr val="2A2E30"/>
                </a:solidFill>
                <a:latin typeface="Garamond"/>
              </a:rPr>
              <a:t>K spans &gt;2 orders of magnitude; the log makes errors relative.</a:t>
            </a:r>
          </a:p>
        </p:txBody>
      </p:sp>
      <p:pic>
        <p:nvPicPr>
          <p:cNvPr id="7" name="Picture 6" descr="targe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920240"/>
            <a:ext cx="5212080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400" b="0" i="0" u="none">
                <a:solidFill>
                  <a:srgbClr val="6B7073"/>
                </a:solidFill>
                <a:latin typeface="Garamon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-320040"/>
            <a:ext cx="2057400" cy="2057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02920"/>
            <a:ext cx="8595360" cy="9144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200" b="1" i="0" u="none">
                <a:solidFill>
                  <a:srgbClr val="2A2E30"/>
                </a:solidFill>
                <a:latin typeface="Garamond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859536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 u="none">
                <a:solidFill>
                  <a:srgbClr val="6B7073"/>
                </a:solidFill>
                <a:latin typeface="Garamond"/>
              </a:rPr>
              <a:t>End-to-end pipeline from crystal structure to 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1645920" cy="1828800"/>
          </a:xfrm>
          <a:prstGeom prst="roundRect">
            <a:avLst>
              <a:gd name="adj" fmla="val 8000"/>
            </a:avLst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58568"/>
            <a:ext cx="137160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 i="0" u="none">
                <a:solidFill>
                  <a:srgbClr val="A81C5C"/>
                </a:solidFill>
                <a:latin typeface="Garamond"/>
              </a:rPr>
              <a:t>1. 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1371600" cy="11887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 u="none">
                <a:solidFill>
                  <a:srgbClr val="2A2E30"/>
                </a:solidFill>
                <a:latin typeface="Garamond"/>
              </a:rPr>
              <a:t>10,987 structures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 u="none">
                <a:solidFill>
                  <a:srgbClr val="2A2E30"/>
                </a:solidFill>
                <a:latin typeface="Garamond"/>
              </a:rPr>
              <a:t>+ log10 K values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04872" y="2926080"/>
            <a:ext cx="182880" cy="274320"/>
          </a:xfrm>
          <a:prstGeom prst="rightArrow">
            <a:avLst/>
          </a:prstGeom>
          <a:solidFill>
            <a:srgbClr val="A81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15184" y="2148840"/>
            <a:ext cx="1645920" cy="1828800"/>
          </a:xfrm>
          <a:prstGeom prst="roundRect">
            <a:avLst>
              <a:gd name="adj" fmla="val 8000"/>
            </a:avLst>
          </a:prstGeom>
          <a:solidFill>
            <a:srgbClr val="EA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52344" y="2258568"/>
            <a:ext cx="137160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 i="0" u="none">
                <a:solidFill>
                  <a:srgbClr val="A81C5C"/>
                </a:solidFill>
                <a:latin typeface="Garamond"/>
              </a:rPr>
              <a:t>2. Featurize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2344" y="2697480"/>
            <a:ext cx="1371600" cy="11887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 u="none">
                <a:solidFill>
                  <a:srgbClr val="2A2E30"/>
                </a:solidFill>
                <a:latin typeface="Garamond"/>
              </a:rPr>
              <a:t>65 descriptors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 u="none">
                <a:solidFill>
                  <a:srgbClr val="2A2E30"/>
                </a:solidFill>
                <a:latin typeface="Garamond"/>
              </a:rPr>
              <a:t>per material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288536" y="2926080"/>
            <a:ext cx="182880" cy="274320"/>
          </a:xfrm>
          <a:prstGeom prst="rightArrow">
            <a:avLst/>
          </a:prstGeom>
          <a:solidFill>
            <a:srgbClr val="A81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98848" y="2148840"/>
            <a:ext cx="1645920" cy="1828800"/>
          </a:xfrm>
          <a:prstGeom prst="roundRect">
            <a:avLst>
              <a:gd name="adj" fmla="val 8000"/>
            </a:avLst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2258568"/>
            <a:ext cx="137160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 i="0" u="none">
                <a:solidFill>
                  <a:srgbClr val="A81C5C"/>
                </a:solidFill>
                <a:latin typeface="Garamond"/>
              </a:rPr>
              <a:t>3. 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697480"/>
            <a:ext cx="1371600" cy="11887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 u="none">
                <a:solidFill>
                  <a:srgbClr val="2A2E30"/>
                </a:solidFill>
                <a:latin typeface="Garamond"/>
              </a:rPr>
              <a:t>80% train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 u="none">
                <a:solidFill>
                  <a:srgbClr val="2A2E30"/>
                </a:solidFill>
                <a:latin typeface="Garamond"/>
              </a:rPr>
              <a:t>20% test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 u="none">
                <a:solidFill>
                  <a:srgbClr val="2A2E30"/>
                </a:solidFill>
                <a:latin typeface="Garamond"/>
              </a:rPr>
              <a:t>+ 5-fold CV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172200" y="2926080"/>
            <a:ext cx="182880" cy="274320"/>
          </a:xfrm>
          <a:prstGeom prst="rightArrow">
            <a:avLst/>
          </a:prstGeom>
          <a:solidFill>
            <a:srgbClr val="A81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82512" y="2148840"/>
            <a:ext cx="1645920" cy="1828800"/>
          </a:xfrm>
          <a:prstGeom prst="roundRect">
            <a:avLst>
              <a:gd name="adj" fmla="val 8000"/>
            </a:avLst>
          </a:prstGeom>
          <a:solidFill>
            <a:srgbClr val="EA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2258568"/>
            <a:ext cx="137160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 i="0" u="none">
                <a:solidFill>
                  <a:srgbClr val="A81C5C"/>
                </a:solidFill>
                <a:latin typeface="Garamond"/>
              </a:rPr>
              <a:t>4. Train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697480"/>
            <a:ext cx="1371600" cy="11887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 u="none">
                <a:solidFill>
                  <a:srgbClr val="2A2E30"/>
                </a:solidFill>
                <a:latin typeface="Garamond"/>
              </a:rPr>
              <a:t>Linear Reg.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 u="none">
                <a:solidFill>
                  <a:srgbClr val="2A2E30"/>
                </a:solidFill>
                <a:latin typeface="Garamond"/>
              </a:rPr>
              <a:t>Random Forest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 u="none">
                <a:solidFill>
                  <a:srgbClr val="2A2E30"/>
                </a:solidFill>
                <a:latin typeface="Garamond"/>
              </a:rPr>
              <a:t>MLP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 u="none">
                <a:solidFill>
                  <a:srgbClr val="2A2E30"/>
                </a:solidFill>
                <a:latin typeface="Garamond"/>
              </a:rPr>
              <a:t>Grad. Boosting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055864" y="2926080"/>
            <a:ext cx="182880" cy="274320"/>
          </a:xfrm>
          <a:prstGeom prst="rightArrow">
            <a:avLst/>
          </a:prstGeom>
          <a:solidFill>
            <a:srgbClr val="A81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66176" y="2148840"/>
            <a:ext cx="1645920" cy="1828800"/>
          </a:xfrm>
          <a:prstGeom prst="roundRect">
            <a:avLst>
              <a:gd name="adj" fmla="val 8000"/>
            </a:avLst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3336" y="2258568"/>
            <a:ext cx="137160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 i="0" u="none">
                <a:solidFill>
                  <a:srgbClr val="A81C5C"/>
                </a:solidFill>
                <a:latin typeface="Garamond"/>
              </a:rPr>
              <a:t>5. Evaluate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3336" y="2697480"/>
            <a:ext cx="1371600" cy="11887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 u="none">
                <a:solidFill>
                  <a:srgbClr val="2A2E30"/>
                </a:solidFill>
                <a:latin typeface="Garamond"/>
              </a:rPr>
              <a:t>MAE, RMSE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 u="none">
                <a:solidFill>
                  <a:srgbClr val="2A2E30"/>
                </a:solidFill>
                <a:latin typeface="Garamond"/>
              </a:rPr>
              <a:t>R², MAE (GPa)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939528" y="2926080"/>
            <a:ext cx="182880" cy="274320"/>
          </a:xfrm>
          <a:prstGeom prst="rightArrow">
            <a:avLst/>
          </a:prstGeom>
          <a:solidFill>
            <a:srgbClr val="A81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149840" y="2148840"/>
            <a:ext cx="1645920" cy="1828800"/>
          </a:xfrm>
          <a:prstGeom prst="roundRect">
            <a:avLst>
              <a:gd name="adj" fmla="val 8000"/>
            </a:avLst>
          </a:prstGeom>
          <a:solidFill>
            <a:srgbClr val="EA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2258568"/>
            <a:ext cx="137160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 i="0" u="none">
                <a:solidFill>
                  <a:srgbClr val="A81C5C"/>
                </a:solidFill>
                <a:latin typeface="Garamond"/>
              </a:rPr>
              <a:t>6. Deploy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0" y="2697480"/>
            <a:ext cx="1371600" cy="11887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 u="none">
                <a:solidFill>
                  <a:srgbClr val="2A2E30"/>
                </a:solidFill>
                <a:latin typeface="Garamond"/>
              </a:rPr>
              <a:t>Streamlit app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 u="none">
                <a:solidFill>
                  <a:srgbClr val="2A2E30"/>
                </a:solidFill>
                <a:latin typeface="Garamond"/>
              </a:rPr>
              <a:t>formula / CIF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343400"/>
            <a:ext cx="10789920" cy="21031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900" b="1" i="0" u="none">
                <a:solidFill>
                  <a:srgbClr val="2A2E30"/>
                </a:solidFill>
                <a:latin typeface="Garamond"/>
              </a:rPr>
              <a:t>Tools: </a:t>
            </a:r>
            <a:r>
              <a:rPr sz="1900" b="0" i="0" u="none">
                <a:solidFill>
                  <a:srgbClr val="2A2E30"/>
                </a:solidFill>
                <a:latin typeface="Garamond"/>
              </a:rPr>
              <a:t>Python · pymatgen (structure parsing, element data) · scikit-learn · matplotlib · Streamlit · joblib (parallel featurization, ~20 s)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900" b="1" i="0" u="none">
                <a:solidFill>
                  <a:srgbClr val="2A2E30"/>
                </a:solidFill>
                <a:latin typeface="Garamond"/>
              </a:rPr>
              <a:t>Reproducibility: </a:t>
            </a:r>
            <a:r>
              <a:rPr sz="1900" b="0" i="0" u="none">
                <a:solidFill>
                  <a:srgbClr val="2A2E30"/>
                </a:solidFill>
                <a:latin typeface="Garamond"/>
              </a:rPr>
              <a:t>every random step uses seed 42; the app reuses the exact same train/test split as the evaluation.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900" b="1" i="0" u="none">
                <a:solidFill>
                  <a:srgbClr val="2A2E30"/>
                </a:solidFill>
                <a:latin typeface="Garamond"/>
              </a:rPr>
              <a:t>Fair comparison: </a:t>
            </a:r>
            <a:r>
              <a:rPr sz="1900" b="0" i="0" u="none">
                <a:solidFill>
                  <a:srgbClr val="2A2E30"/>
                </a:solidFill>
                <a:latin typeface="Garamond"/>
              </a:rPr>
              <a:t>all four models are trained on the same features and scored on the same 2,198 unseen test materials.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400" b="0" i="0" u="none">
                <a:solidFill>
                  <a:srgbClr val="6B7073"/>
                </a:solidFill>
                <a:latin typeface="Garamon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-320040"/>
            <a:ext cx="2057400" cy="2057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02920"/>
            <a:ext cx="8595360" cy="9144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200" b="1" i="0" u="none">
                <a:solidFill>
                  <a:srgbClr val="2A2E30"/>
                </a:solidFill>
                <a:latin typeface="Garamond"/>
              </a:rPr>
              <a:t>Descriptors – Crystals to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859536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 u="none">
                <a:solidFill>
                  <a:srgbClr val="6B7073"/>
                </a:solidFill>
                <a:latin typeface="Garamond"/>
              </a:rPr>
              <a:t>ML models cannot read a crystal directly, so each structure becomes 65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257800" cy="4343400"/>
          </a:xfrm>
          <a:prstGeom prst="roundRect">
            <a:avLst>
              <a:gd name="adj" fmla="val 8000"/>
            </a:avLst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29968"/>
            <a:ext cx="498348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 i="0" u="none">
                <a:solidFill>
                  <a:srgbClr val="A81C5C"/>
                </a:solidFill>
                <a:latin typeface="Garamond"/>
              </a:rPr>
              <a:t>Composition descriptors (50)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4983480" cy="3703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 u="none">
                <a:solidFill>
                  <a:srgbClr val="2A2E30"/>
                </a:solidFill>
                <a:latin typeface="Garamond"/>
              </a:rPr>
              <a:t>10 elemental properties: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 u="none">
                <a:solidFill>
                  <a:srgbClr val="A81C5C"/>
                </a:solidFill>
                <a:latin typeface="Garamond"/>
              </a:rPr>
              <a:t>•  </a:t>
            </a:r>
            <a:r>
              <a:rPr sz="1600" b="0" i="0" u="none">
                <a:solidFill>
                  <a:srgbClr val="2A2E30"/>
                </a:solidFill>
                <a:latin typeface="Garamond"/>
              </a:rPr>
              <a:t>Atomic number, atomic mass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 u="none">
                <a:solidFill>
                  <a:srgbClr val="A81C5C"/>
                </a:solidFill>
                <a:latin typeface="Garamond"/>
              </a:rPr>
              <a:t>•  </a:t>
            </a:r>
            <a:r>
              <a:rPr sz="1600" b="0" i="0" u="none">
                <a:solidFill>
                  <a:srgbClr val="2A2E30"/>
                </a:solidFill>
                <a:latin typeface="Garamond"/>
              </a:rPr>
              <a:t>Electronegativity (bond type)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 u="none">
                <a:solidFill>
                  <a:srgbClr val="A81C5C"/>
                </a:solidFill>
                <a:latin typeface="Garamond"/>
              </a:rPr>
              <a:t>•  </a:t>
            </a:r>
            <a:r>
              <a:rPr sz="1600" b="0" i="0" u="none">
                <a:solidFill>
                  <a:srgbClr val="2A2E30"/>
                </a:solidFill>
                <a:latin typeface="Garamond"/>
              </a:rPr>
              <a:t>Atomic radius, molar volume (size)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 u="none">
                <a:solidFill>
                  <a:srgbClr val="A81C5C"/>
                </a:solidFill>
                <a:latin typeface="Garamond"/>
              </a:rPr>
              <a:t>•  </a:t>
            </a:r>
            <a:r>
              <a:rPr sz="1600" b="0" i="0" u="none">
                <a:solidFill>
                  <a:srgbClr val="2A2E30"/>
                </a:solidFill>
                <a:latin typeface="Garamond"/>
              </a:rPr>
              <a:t>Melting point (bond strength proxy)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 u="none">
                <a:solidFill>
                  <a:srgbClr val="A81C5C"/>
                </a:solidFill>
                <a:latin typeface="Garamond"/>
              </a:rPr>
              <a:t>•  </a:t>
            </a:r>
            <a:r>
              <a:rPr sz="1600" b="0" i="0" u="none">
                <a:solidFill>
                  <a:srgbClr val="2A2E30"/>
                </a:solidFill>
                <a:latin typeface="Garamond"/>
              </a:rPr>
              <a:t>Periodic row &amp; group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 u="none">
                <a:solidFill>
                  <a:srgbClr val="A81C5C"/>
                </a:solidFill>
                <a:latin typeface="Garamond"/>
              </a:rPr>
              <a:t>•  </a:t>
            </a:r>
            <a:r>
              <a:rPr sz="1600" b="0" i="0" u="none">
                <a:solidFill>
                  <a:srgbClr val="2A2E30"/>
                </a:solidFill>
                <a:latin typeface="Garamond"/>
              </a:rPr>
              <a:t>1st ionization energy, valence electrons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 u="none">
                <a:solidFill>
                  <a:srgbClr val="2A2E30"/>
                </a:solidFill>
                <a:latin typeface="Garamond"/>
              </a:rPr>
              <a:t>× 5 statistics: </a:t>
            </a:r>
            <a:r>
              <a:rPr sz="1600" b="0" i="0" u="none">
                <a:solidFill>
                  <a:srgbClr val="2A2E30"/>
                </a:solidFill>
                <a:latin typeface="Garamond"/>
              </a:rPr>
              <a:t>fraction-weighted mean, std, min, max, range (Magpie-style)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920240"/>
            <a:ext cx="5257800" cy="4343400"/>
          </a:xfrm>
          <a:prstGeom prst="roundRect">
            <a:avLst>
              <a:gd name="adj" fmla="val 8000"/>
            </a:avLst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29968"/>
            <a:ext cx="498348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 i="0" u="none">
                <a:solidFill>
                  <a:srgbClr val="A81C5C"/>
                </a:solidFill>
                <a:latin typeface="Garamond"/>
              </a:rPr>
              <a:t>Structure descriptors (15)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983480" cy="3703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 u="none">
                <a:solidFill>
                  <a:srgbClr val="A81C5C"/>
                </a:solidFill>
                <a:latin typeface="Garamond"/>
              </a:rPr>
              <a:t>•  </a:t>
            </a:r>
            <a:r>
              <a:rPr sz="1600" b="0" i="0" u="none">
                <a:solidFill>
                  <a:srgbClr val="2A2E30"/>
                </a:solidFill>
                <a:latin typeface="Garamond"/>
              </a:rPr>
              <a:t>Number of elements and of atomic sites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 u="none">
                <a:solidFill>
                  <a:srgbClr val="A81C5C"/>
                </a:solidFill>
                <a:latin typeface="Garamond"/>
              </a:rPr>
              <a:t>•  </a:t>
            </a:r>
            <a:r>
              <a:rPr sz="1600" b="0" i="0" u="none">
                <a:solidFill>
                  <a:srgbClr val="2A2E30"/>
                </a:solidFill>
                <a:latin typeface="Garamond"/>
              </a:rPr>
              <a:t>Volume per atom, mass density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 u="none">
                <a:solidFill>
                  <a:srgbClr val="A81C5C"/>
                </a:solidFill>
                <a:latin typeface="Garamond"/>
              </a:rPr>
              <a:t>•  </a:t>
            </a:r>
            <a:r>
              <a:rPr sz="1600" b="0" i="0" u="none">
                <a:solidFill>
                  <a:srgbClr val="2A2E30"/>
                </a:solidFill>
                <a:latin typeface="Garamond"/>
              </a:rPr>
              <a:t>Lattice parameters a, b, c and angles α, β, γ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 u="none">
                <a:solidFill>
                  <a:srgbClr val="A81C5C"/>
                </a:solidFill>
                <a:latin typeface="Garamond"/>
              </a:rPr>
              <a:t>•  </a:t>
            </a:r>
            <a:r>
              <a:rPr sz="1600" b="0" i="0" u="none">
                <a:solidFill>
                  <a:srgbClr val="2A2E30"/>
                </a:solidFill>
                <a:latin typeface="Garamond"/>
              </a:rPr>
              <a:t>Packing fraction = atomic sphere volume / cell volume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 u="none">
                <a:solidFill>
                  <a:srgbClr val="A81C5C"/>
                </a:solidFill>
                <a:latin typeface="Garamond"/>
              </a:rPr>
              <a:t>•  </a:t>
            </a:r>
            <a:r>
              <a:rPr sz="1600" b="0" i="0" u="none">
                <a:solidFill>
                  <a:srgbClr val="2A2E30"/>
                </a:solidFill>
                <a:latin typeface="Garamond"/>
              </a:rPr>
              <a:t>Nearest-neighbour distance: mean, min, max, std (periodic, 5 Å cutoff)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 u="none">
                <a:solidFill>
                  <a:srgbClr val="2A2E30"/>
                </a:solidFill>
                <a:latin typeface="Garamond"/>
              </a:rPr>
              <a:t>Captures </a:t>
            </a:r>
            <a:r>
              <a:rPr sz="1600" b="0" i="1" u="none">
                <a:solidFill>
                  <a:srgbClr val="2A2E30"/>
                </a:solidFill>
                <a:latin typeface="Garamond"/>
              </a:rPr>
              <a:t>how</a:t>
            </a:r>
            <a:r>
              <a:rPr sz="1600" b="0" i="0" u="none">
                <a:solidFill>
                  <a:srgbClr val="2A2E30"/>
                </a:solidFill>
                <a:latin typeface="Garamond"/>
              </a:rPr>
              <a:t> atoms are arranged - not just which elements are present.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400" b="0" i="0" u="none">
                <a:solidFill>
                  <a:srgbClr val="6B7073"/>
                </a:solidFill>
                <a:latin typeface="Garamon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-320040"/>
            <a:ext cx="2057400" cy="2057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02920"/>
            <a:ext cx="8595360" cy="9144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200" b="1" i="0" u="none">
                <a:solidFill>
                  <a:srgbClr val="2A2E30"/>
                </a:solidFill>
                <a:latin typeface="Garamond"/>
              </a:rPr>
              <a:t>Models &amp; Evaluation Setup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00200"/>
          <a:ext cx="107899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926080"/>
                <a:gridCol w="5120640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Garamond"/>
                        </a:rPr>
                        <a:t>Model</a:t>
                      </a:r>
                    </a:p>
                  </a:txBody>
                  <a:tcPr marL="73152" marR="73152" anchor="ctr">
                    <a:solidFill>
                      <a:srgbClr val="2A2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Garamond"/>
                        </a:rPr>
                        <a:t>Type</a:t>
                      </a:r>
                    </a:p>
                  </a:txBody>
                  <a:tcPr marL="73152" marR="73152" anchor="ctr">
                    <a:solidFill>
                      <a:srgbClr val="2A2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Garamond"/>
                        </a:rPr>
                        <a:t>Configuration</a:t>
                      </a:r>
                    </a:p>
                  </a:txBody>
                  <a:tcPr marL="73152" marR="73152" anchor="ctr">
                    <a:solidFill>
                      <a:srgbClr val="2A2E3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Linear Regression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Linear baseline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Standardised features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Random Forest</a:t>
                      </a:r>
                    </a:p>
                  </a:txBody>
                  <a:tcPr marL="73152" marR="73152" anchor="ctr">
                    <a:solidFill>
                      <a:srgbClr val="F3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Bagged tree ensemble</a:t>
                      </a:r>
                    </a:p>
                  </a:txBody>
                  <a:tcPr marL="73152" marR="73152" anchor="ctr">
                    <a:solidFill>
                      <a:srgbClr val="F3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500 trees, 33% features per split</a:t>
                      </a:r>
                    </a:p>
                  </a:txBody>
                  <a:tcPr marL="73152" marR="73152" anchor="ctr">
                    <a:solidFill>
                      <a:srgbClr val="F3F1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MLP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Neural network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256-128-64 hidden units, early stopping, standardised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Gradient Boosting</a:t>
                      </a:r>
                    </a:p>
                  </a:txBody>
                  <a:tcPr marL="73152" marR="73152" anchor="ctr">
                    <a:solidFill>
                      <a:srgbClr val="F3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Boosted tree ensemble</a:t>
                      </a:r>
                    </a:p>
                  </a:txBody>
                  <a:tcPr marL="73152" marR="73152" anchor="ctr">
                    <a:solidFill>
                      <a:srgbClr val="F3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1,500 iterations, learning rate 0.03, L2 = 1.0</a:t>
                      </a:r>
                    </a:p>
                  </a:txBody>
                  <a:tcPr marL="73152" marR="73152" anchor="ctr">
                    <a:solidFill>
                      <a:srgbClr val="F3F1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023360"/>
            <a:ext cx="530352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200" b="1" i="0" u="none">
                <a:solidFill>
                  <a:srgbClr val="A81C5C"/>
                </a:solidFill>
                <a:latin typeface="Garamond"/>
              </a:rPr>
              <a:t>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5303520" cy="20116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 u="none">
                <a:solidFill>
                  <a:srgbClr val="A81C5C"/>
                </a:solidFill>
                <a:latin typeface="Garamond"/>
              </a:rPr>
              <a:t>•  </a:t>
            </a:r>
            <a:r>
              <a:rPr sz="1800" b="0" i="0" u="none">
                <a:solidFill>
                  <a:srgbClr val="2A2E30"/>
                </a:solidFill>
                <a:latin typeface="Garamond"/>
              </a:rPr>
              <a:t>Hold-out test set: 2,198 materials never seen in training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 u="none">
                <a:solidFill>
                  <a:srgbClr val="A81C5C"/>
                </a:solidFill>
                <a:latin typeface="Garamond"/>
              </a:rPr>
              <a:t>•  </a:t>
            </a:r>
            <a:r>
              <a:rPr sz="1800" b="0" i="0" u="none">
                <a:solidFill>
                  <a:srgbClr val="2A2E30"/>
                </a:solidFill>
                <a:latin typeface="Garamond"/>
              </a:rPr>
              <a:t>5-fold cross-validation on the 8,789 training materials to check stability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023360"/>
            <a:ext cx="530352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200" b="1" i="0" u="none">
                <a:solidFill>
                  <a:srgbClr val="A81C5C"/>
                </a:solidFill>
                <a:latin typeface="Garamond"/>
              </a:rPr>
              <a:t>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4480560"/>
            <a:ext cx="5303520" cy="20116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 u="none">
                <a:solidFill>
                  <a:srgbClr val="A81C5C"/>
                </a:solidFill>
                <a:latin typeface="Garamond"/>
              </a:rPr>
              <a:t>•  </a:t>
            </a:r>
            <a:r>
              <a:rPr sz="1800" b="1" i="0" u="none">
                <a:solidFill>
                  <a:srgbClr val="2A2E30"/>
                </a:solidFill>
                <a:latin typeface="Garamond"/>
              </a:rPr>
              <a:t>MAE</a:t>
            </a:r>
            <a:r>
              <a:rPr sz="1800" b="0" i="0" u="none">
                <a:solidFill>
                  <a:srgbClr val="2A2E30"/>
                </a:solidFill>
                <a:latin typeface="Garamond"/>
              </a:rPr>
              <a:t> (log10) - Matbench standard metric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 u="none">
                <a:solidFill>
                  <a:srgbClr val="A81C5C"/>
                </a:solidFill>
                <a:latin typeface="Garamond"/>
              </a:rPr>
              <a:t>•  </a:t>
            </a:r>
            <a:r>
              <a:rPr sz="1800" b="1" i="0" u="none">
                <a:solidFill>
                  <a:srgbClr val="2A2E30"/>
                </a:solidFill>
                <a:latin typeface="Garamond"/>
              </a:rPr>
              <a:t>RMSE</a:t>
            </a:r>
            <a:r>
              <a:rPr sz="1800" b="0" i="0" u="none">
                <a:solidFill>
                  <a:srgbClr val="2A2E30"/>
                </a:solidFill>
                <a:latin typeface="Garamond"/>
              </a:rPr>
              <a:t> - penalises large errors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 u="none">
                <a:solidFill>
                  <a:srgbClr val="A81C5C"/>
                </a:solidFill>
                <a:latin typeface="Garamond"/>
              </a:rPr>
              <a:t>•  </a:t>
            </a:r>
            <a:r>
              <a:rPr sz="1800" b="1" i="0" u="none">
                <a:solidFill>
                  <a:srgbClr val="2A2E30"/>
                </a:solidFill>
                <a:latin typeface="Garamond"/>
              </a:rPr>
              <a:t>R²</a:t>
            </a:r>
            <a:r>
              <a:rPr sz="1800" b="0" i="0" u="none">
                <a:solidFill>
                  <a:srgbClr val="2A2E30"/>
                </a:solidFill>
                <a:latin typeface="Garamond"/>
              </a:rPr>
              <a:t> - variance explained (1 = perfect)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 u="none">
                <a:solidFill>
                  <a:srgbClr val="A81C5C"/>
                </a:solidFill>
                <a:latin typeface="Garamond"/>
              </a:rPr>
              <a:t>•  </a:t>
            </a:r>
            <a:r>
              <a:rPr sz="1800" b="1" i="0" u="none">
                <a:solidFill>
                  <a:srgbClr val="2A2E30"/>
                </a:solidFill>
                <a:latin typeface="Garamond"/>
              </a:rPr>
              <a:t>MAE in GPa</a:t>
            </a:r>
            <a:r>
              <a:rPr sz="1800" b="0" i="0" u="none">
                <a:solidFill>
                  <a:srgbClr val="2A2E30"/>
                </a:solidFill>
                <a:latin typeface="Garamond"/>
              </a:rPr>
              <a:t> - intuitive physical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400" b="0" i="0" u="none">
                <a:solidFill>
                  <a:srgbClr val="6B7073"/>
                </a:solidFill>
                <a:latin typeface="Garamon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-320040"/>
            <a:ext cx="2057400" cy="2057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02920"/>
            <a:ext cx="8595360" cy="9144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200" b="1" i="0" u="none">
                <a:solidFill>
                  <a:srgbClr val="2A2E30"/>
                </a:solidFill>
                <a:latin typeface="Garamond"/>
              </a:rPr>
              <a:t>Results –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859536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 u="none">
                <a:solidFill>
                  <a:srgbClr val="6B7073"/>
                </a:solidFill>
                <a:latin typeface="Garamond"/>
              </a:rPr>
              <a:t>Hold-out test set (2,198 materials); CV = 5-fold mean ± std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74519"/>
          <a:ext cx="107899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737360"/>
                <a:gridCol w="1463040"/>
                <a:gridCol w="1554480"/>
                <a:gridCol w="1463040"/>
                <a:gridCol w="173736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Garamond"/>
                        </a:rPr>
                        <a:t>Model</a:t>
                      </a:r>
                    </a:p>
                  </a:txBody>
                  <a:tcPr marL="73152" marR="73152" anchor="ctr">
                    <a:solidFill>
                      <a:srgbClr val="2A2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Garamond"/>
                        </a:rPr>
                        <a:t>CV MAE</a:t>
                      </a:r>
                    </a:p>
                  </a:txBody>
                  <a:tcPr marL="73152" marR="73152" anchor="ctr">
                    <a:solidFill>
                      <a:srgbClr val="2A2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Garamond"/>
                        </a:rPr>
                        <a:t>Test MAE</a:t>
                      </a:r>
                    </a:p>
                  </a:txBody>
                  <a:tcPr marL="73152" marR="73152" anchor="ctr">
                    <a:solidFill>
                      <a:srgbClr val="2A2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Garamond"/>
                        </a:rPr>
                        <a:t>Test RMSE</a:t>
                      </a:r>
                    </a:p>
                  </a:txBody>
                  <a:tcPr marL="73152" marR="73152" anchor="ctr">
                    <a:solidFill>
                      <a:srgbClr val="2A2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Garamond"/>
                        </a:rPr>
                        <a:t>Test R²</a:t>
                      </a:r>
                    </a:p>
                  </a:txBody>
                  <a:tcPr marL="73152" marR="73152" anchor="ctr">
                    <a:solidFill>
                      <a:srgbClr val="2A2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Garamond"/>
                        </a:rPr>
                        <a:t>MAE (GPa)</a:t>
                      </a:r>
                    </a:p>
                  </a:txBody>
                  <a:tcPr marL="73152" marR="73152" anchor="ctr">
                    <a:solidFill>
                      <a:srgbClr val="2A2E3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Linear Regression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0.109 ± 0.002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0.109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0.167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0.807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19.6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Random Forest</a:t>
                      </a:r>
                    </a:p>
                  </a:txBody>
                  <a:tcPr marL="73152" marR="73152" anchor="ctr">
                    <a:solidFill>
                      <a:srgbClr val="F3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0.071 ± 0.002</a:t>
                      </a:r>
                    </a:p>
                  </a:txBody>
                  <a:tcPr marL="73152" marR="73152" anchor="ctr">
                    <a:solidFill>
                      <a:srgbClr val="F3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0.070</a:t>
                      </a:r>
                    </a:p>
                  </a:txBody>
                  <a:tcPr marL="73152" marR="73152" anchor="ctr">
                    <a:solidFill>
                      <a:srgbClr val="F3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0.122</a:t>
                      </a:r>
                    </a:p>
                  </a:txBody>
                  <a:tcPr marL="73152" marR="73152" anchor="ctr">
                    <a:solidFill>
                      <a:srgbClr val="F3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0.896</a:t>
                      </a:r>
                    </a:p>
                  </a:txBody>
                  <a:tcPr marL="73152" marR="73152" anchor="ctr">
                    <a:solidFill>
                      <a:srgbClr val="F3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11.9</a:t>
                      </a:r>
                    </a:p>
                  </a:txBody>
                  <a:tcPr marL="73152" marR="73152" anchor="ctr">
                    <a:solidFill>
                      <a:srgbClr val="F3F1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MLP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0.091 ± 0.004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0.099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0.149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0.845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A2E30"/>
                          </a:solidFill>
                          <a:latin typeface="Garamond"/>
                        </a:rPr>
                        <a:t>18.3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2A2E30"/>
                          </a:solidFill>
                          <a:latin typeface="Garamond"/>
                        </a:rPr>
                        <a:t>Gradient Boosting  ★</a:t>
                      </a:r>
                    </a:p>
                  </a:txBody>
                  <a:tcPr marL="73152" marR="73152" anchor="ctr">
                    <a:solidFill>
                      <a:srgbClr val="F3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2A2E30"/>
                          </a:solidFill>
                          <a:latin typeface="Garamond"/>
                        </a:rPr>
                        <a:t>0.067 ± 0.001</a:t>
                      </a:r>
                    </a:p>
                  </a:txBody>
                  <a:tcPr marL="73152" marR="73152" anchor="ctr">
                    <a:solidFill>
                      <a:srgbClr val="F3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2A2E30"/>
                          </a:solidFill>
                          <a:latin typeface="Garamond"/>
                        </a:rPr>
                        <a:t>0.067</a:t>
                      </a:r>
                    </a:p>
                  </a:txBody>
                  <a:tcPr marL="73152" marR="73152" anchor="ctr">
                    <a:solidFill>
                      <a:srgbClr val="F3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2A2E30"/>
                          </a:solidFill>
                          <a:latin typeface="Garamond"/>
                        </a:rPr>
                        <a:t>0.116</a:t>
                      </a:r>
                    </a:p>
                  </a:txBody>
                  <a:tcPr marL="73152" marR="73152" anchor="ctr">
                    <a:solidFill>
                      <a:srgbClr val="F3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2A2E30"/>
                          </a:solidFill>
                          <a:latin typeface="Garamond"/>
                        </a:rPr>
                        <a:t>0.906</a:t>
                      </a:r>
                    </a:p>
                  </a:txBody>
                  <a:tcPr marL="73152" marR="73152" anchor="ctr">
                    <a:solidFill>
                      <a:srgbClr val="F3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2A2E30"/>
                          </a:solidFill>
                          <a:latin typeface="Garamond"/>
                        </a:rPr>
                        <a:t>11.2</a:t>
                      </a:r>
                    </a:p>
                  </a:txBody>
                  <a:tcPr marL="73152" marR="73152" anchor="ctr">
                    <a:solidFill>
                      <a:srgbClr val="F3F1F2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parity_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23360"/>
            <a:ext cx="8229600" cy="2057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0" y="4023360"/>
            <a:ext cx="2468880" cy="23774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 u="none">
                <a:solidFill>
                  <a:srgbClr val="2A2E30"/>
                </a:solidFill>
                <a:latin typeface="Garamond"/>
              </a:rPr>
              <a:t>Gradient Boosting</a:t>
            </a:r>
            <a:r>
              <a:rPr sz="1500" b="0" i="0" u="none">
                <a:solidFill>
                  <a:srgbClr val="2A2E30"/>
                </a:solidFill>
                <a:latin typeface="Garamond"/>
              </a:rPr>
              <a:t> is best on every metric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 u="none">
                <a:solidFill>
                  <a:srgbClr val="2A2E30"/>
                </a:solidFill>
                <a:latin typeface="Garamond"/>
              </a:rPr>
              <a:t>MAE 0.067 </a:t>
            </a:r>
            <a:r>
              <a:rPr sz="1500" b="0" i="0" u="none">
                <a:solidFill>
                  <a:srgbClr val="2A2E30"/>
                </a:solidFill>
                <a:latin typeface="Garamond"/>
              </a:rPr>
              <a:t>≈ 17% typical relative error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 u="none">
                <a:solidFill>
                  <a:srgbClr val="2A2E30"/>
                </a:solidFill>
                <a:latin typeface="Garamond"/>
              </a:rPr>
              <a:t>Tree ensembles</a:t>
            </a:r>
            <a:r>
              <a:rPr sz="1500" b="0" i="0" u="none">
                <a:solidFill>
                  <a:srgbClr val="2A2E30"/>
                </a:solidFill>
                <a:latin typeface="Garamond"/>
              </a:rPr>
              <a:t> beat linear &amp; MLP: the relation is strongly non-linear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400" b="0" i="0" u="none">
                <a:solidFill>
                  <a:srgbClr val="6B7073"/>
                </a:solidFill>
                <a:latin typeface="Garamon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-320040"/>
            <a:ext cx="2057400" cy="2057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02920"/>
            <a:ext cx="8595360" cy="9144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200" b="1" i="0" u="none">
                <a:solidFill>
                  <a:srgbClr val="2A2E30"/>
                </a:solidFill>
                <a:latin typeface="Garamond"/>
              </a:rPr>
              <a:t>What Drives Bulk Modulus?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859536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 u="none">
                <a:solidFill>
                  <a:srgbClr val="6B7073"/>
                </a:solidFill>
                <a:latin typeface="Garamond"/>
              </a:rPr>
              <a:t>Random Forest feature importance - the model learns real physics</a:t>
            </a:r>
          </a:p>
        </p:txBody>
      </p:sp>
      <p:pic>
        <p:nvPicPr>
          <p:cNvPr id="5" name="Picture 4" descr="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83080"/>
            <a:ext cx="5547360" cy="47548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46520" y="1874519"/>
          <a:ext cx="512064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01752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Garamond"/>
                        </a:rPr>
                        <a:t>Descriptor</a:t>
                      </a:r>
                    </a:p>
                  </a:txBody>
                  <a:tcPr marL="73152" marR="73152" anchor="ctr">
                    <a:solidFill>
                      <a:srgbClr val="2A2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Garamond"/>
                        </a:rPr>
                        <a:t>Physical meaning</a:t>
                      </a:r>
                    </a:p>
                  </a:txBody>
                  <a:tcPr marL="73152" marR="73152" anchor="ctr">
                    <a:solidFill>
                      <a:srgbClr val="2A2E3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A2E30"/>
                          </a:solidFill>
                          <a:latin typeface="Garamond"/>
                        </a:rPr>
                        <a:t>Volume per atom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2E30"/>
                          </a:solidFill>
                          <a:latin typeface="Garamond"/>
                        </a:rPr>
                        <a:t>Tighter packing → stiffer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A2E30"/>
                          </a:solidFill>
                          <a:latin typeface="Garamond"/>
                        </a:rPr>
                        <a:t>Mean melting point</a:t>
                      </a:r>
                    </a:p>
                  </a:txBody>
                  <a:tcPr marL="73152" marR="73152" anchor="ctr">
                    <a:solidFill>
                      <a:srgbClr val="F3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2E30"/>
                          </a:solidFill>
                          <a:latin typeface="Garamond"/>
                        </a:rPr>
                        <a:t>Stronger bonds → stiffer</a:t>
                      </a:r>
                    </a:p>
                  </a:txBody>
                  <a:tcPr marL="73152" marR="73152" anchor="ctr">
                    <a:solidFill>
                      <a:srgbClr val="F3F1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A2E30"/>
                          </a:solidFill>
                          <a:latin typeface="Garamond"/>
                        </a:rPr>
                        <a:t>Mean molar volume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2E30"/>
                          </a:solidFill>
                          <a:latin typeface="Garamond"/>
                        </a:rPr>
                        <a:t>Larger atoms → softer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A2E30"/>
                          </a:solidFill>
                          <a:latin typeface="Garamond"/>
                        </a:rPr>
                        <a:t>Density</a:t>
                      </a:r>
                    </a:p>
                  </a:txBody>
                  <a:tcPr marL="73152" marR="73152" anchor="ctr">
                    <a:solidFill>
                      <a:srgbClr val="F3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2E30"/>
                          </a:solidFill>
                          <a:latin typeface="Garamond"/>
                        </a:rPr>
                        <a:t>Denser → generally stiffer</a:t>
                      </a:r>
                    </a:p>
                  </a:txBody>
                  <a:tcPr marL="73152" marR="73152" anchor="ctr">
                    <a:solidFill>
                      <a:srgbClr val="F3F1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A2E30"/>
                          </a:solidFill>
                          <a:latin typeface="Garamond"/>
                        </a:rPr>
                        <a:t>Packing fraction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2E30"/>
                          </a:solidFill>
                          <a:latin typeface="Garamond"/>
                        </a:rPr>
                        <a:t>Less free space → stiffer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46520" y="4572000"/>
            <a:ext cx="5120640" cy="18288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 u="none">
                <a:solidFill>
                  <a:srgbClr val="A81C5C"/>
                </a:solidFill>
                <a:latin typeface="Garamond"/>
              </a:rPr>
              <a:t>•  </a:t>
            </a:r>
            <a:r>
              <a:rPr sz="1700" b="0" i="0" u="none">
                <a:solidFill>
                  <a:srgbClr val="2A2E30"/>
                </a:solidFill>
                <a:latin typeface="Garamond"/>
              </a:rPr>
              <a:t>Atomic volume alone carries ~27% of the importance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 u="none">
                <a:solidFill>
                  <a:srgbClr val="A81C5C"/>
                </a:solidFill>
                <a:latin typeface="Garamond"/>
              </a:rPr>
              <a:t>•  </a:t>
            </a:r>
            <a:r>
              <a:rPr sz="1700" b="0" i="0" u="none">
                <a:solidFill>
                  <a:srgbClr val="2A2E30"/>
                </a:solidFill>
                <a:latin typeface="Garamond"/>
              </a:rPr>
              <a:t>Matches known physics: K scales with bond strength / atomic volume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 u="none">
                <a:solidFill>
                  <a:srgbClr val="A81C5C"/>
                </a:solidFill>
                <a:latin typeface="Garamond"/>
              </a:rPr>
              <a:t>•  </a:t>
            </a:r>
            <a:r>
              <a:rPr sz="1700" b="0" i="0" u="none">
                <a:solidFill>
                  <a:srgbClr val="2A2E30"/>
                </a:solidFill>
                <a:latin typeface="Garamond"/>
              </a:rPr>
              <a:t>Largest errors: very soft materials (K &lt; 10 GPa), which are rare in the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400" b="0" i="0" u="none">
                <a:solidFill>
                  <a:srgbClr val="6B7073"/>
                </a:solidFill>
                <a:latin typeface="Garamon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-320040"/>
            <a:ext cx="2057400" cy="2057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02920"/>
            <a:ext cx="8595360" cy="9144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200" b="1" i="0" u="none">
                <a:solidFill>
                  <a:srgbClr val="2A2E30"/>
                </a:solidFill>
                <a:latin typeface="Garamond"/>
              </a:rPr>
              <a:t>Interactive Prediction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859536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 u="none">
                <a:solidFill>
                  <a:srgbClr val="6B7073"/>
                </a:solidFill>
                <a:latin typeface="Garamond"/>
              </a:rPr>
              <a:t>Streamlit web interface - run locally with one command</a:t>
            </a:r>
          </a:p>
        </p:txBody>
      </p:sp>
      <p:pic>
        <p:nvPicPr>
          <p:cNvPr id="5" name="Picture 4" descr="app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83080"/>
            <a:ext cx="6583680" cy="3703320"/>
          </a:xfrm>
          <a:prstGeom prst="rect">
            <a:avLst/>
          </a:prstGeom>
          <a:ln w="9525">
            <a:solidFill>
              <a:srgbClr val="D0D0D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589520" y="1783080"/>
            <a:ext cx="4023360" cy="411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1" i="0" u="none">
                <a:solidFill>
                  <a:srgbClr val="A81C5C"/>
                </a:solidFill>
                <a:latin typeface="Garamond"/>
              </a:rPr>
              <a:t>Four tabs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240280"/>
            <a:ext cx="4023360" cy="2651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 u="none">
                <a:solidFill>
                  <a:srgbClr val="A81C5C"/>
                </a:solidFill>
                <a:latin typeface="Garamond"/>
              </a:rPr>
              <a:t>•  </a:t>
            </a:r>
            <a:r>
              <a:rPr sz="1600" b="1" i="0" u="none">
                <a:solidFill>
                  <a:srgbClr val="2A2E30"/>
                </a:solidFill>
                <a:latin typeface="Garamond"/>
              </a:rPr>
              <a:t>Predict from formula</a:t>
            </a:r>
            <a:r>
              <a:rPr sz="1600" b="0" i="0" u="none">
                <a:solidFill>
                  <a:srgbClr val="2A2E30"/>
                </a:solidFill>
                <a:latin typeface="Garamond"/>
              </a:rPr>
              <a:t> - type e.g. Fe2O3 → 178 GPa (DFT: 163-192)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 u="none">
                <a:solidFill>
                  <a:srgbClr val="A81C5C"/>
                </a:solidFill>
                <a:latin typeface="Garamond"/>
              </a:rPr>
              <a:t>•  </a:t>
            </a:r>
            <a:r>
              <a:rPr sz="1600" b="1" i="0" u="none">
                <a:solidFill>
                  <a:srgbClr val="2A2E30"/>
                </a:solidFill>
                <a:latin typeface="Garamond"/>
              </a:rPr>
              <a:t>Browse test materials</a:t>
            </a:r>
            <a:r>
              <a:rPr sz="1600" b="0" i="0" u="none">
                <a:solidFill>
                  <a:srgbClr val="2A2E30"/>
                </a:solidFill>
                <a:latin typeface="Garamond"/>
              </a:rPr>
              <a:t> - predicted vs. actual for unseen crystals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 u="none">
                <a:solidFill>
                  <a:srgbClr val="A81C5C"/>
                </a:solidFill>
                <a:latin typeface="Garamond"/>
              </a:rPr>
              <a:t>•  </a:t>
            </a:r>
            <a:r>
              <a:rPr sz="1600" b="1" i="0" u="none">
                <a:solidFill>
                  <a:srgbClr val="2A2E30"/>
                </a:solidFill>
                <a:latin typeface="Garamond"/>
              </a:rPr>
              <a:t>Upload CIF</a:t>
            </a:r>
            <a:r>
              <a:rPr sz="1600" b="0" i="0" u="none">
                <a:solidFill>
                  <a:srgbClr val="2A2E30"/>
                </a:solidFill>
                <a:latin typeface="Garamond"/>
              </a:rPr>
              <a:t> - full-structure prediction (R² 0.91)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 u="none">
                <a:solidFill>
                  <a:srgbClr val="A81C5C"/>
                </a:solidFill>
                <a:latin typeface="Garamond"/>
              </a:rPr>
              <a:t>•  </a:t>
            </a:r>
            <a:r>
              <a:rPr sz="1600" b="1" i="0" u="none">
                <a:solidFill>
                  <a:srgbClr val="2A2E30"/>
                </a:solidFill>
                <a:latin typeface="Garamond"/>
              </a:rPr>
              <a:t>Model performance</a:t>
            </a:r>
            <a:r>
              <a:rPr sz="1600" b="0" i="0" u="none">
                <a:solidFill>
                  <a:srgbClr val="2A2E30"/>
                </a:solidFill>
                <a:latin typeface="Garamond"/>
              </a:rPr>
              <a:t> - metrics &amp; plots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4572000"/>
            <a:ext cx="4023360" cy="4114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1" i="0" u="none">
                <a:solidFill>
                  <a:srgbClr val="A81C5C"/>
                </a:solidFill>
                <a:latin typeface="Garamond"/>
              </a:rPr>
              <a:t>How to run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5029200"/>
            <a:ext cx="4023360" cy="1051560"/>
          </a:xfrm>
          <a:prstGeom prst="rect">
            <a:avLst/>
          </a:prstGeom>
          <a:solidFill>
            <a:srgbClr val="2A2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pip install -r requirements.txt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streamlit run app.py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onsolas"/>
              </a:rPr>
              <a:t>→ open http://localhost:8501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400" b="0" i="0" u="none">
                <a:solidFill>
                  <a:srgbClr val="6B7073"/>
                </a:solidFill>
                <a:latin typeface="Garamon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-320040"/>
            <a:ext cx="2057400" cy="2057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02920"/>
            <a:ext cx="8595360" cy="9144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200" b="1" i="0" u="none">
                <a:solidFill>
                  <a:srgbClr val="2A2E30"/>
                </a:solidFill>
                <a:latin typeface="Garamond"/>
              </a:rPr>
              <a:t>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539496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400" b="1" i="0" u="none">
                <a:solidFill>
                  <a:srgbClr val="A81C5C"/>
                </a:solidFill>
                <a:latin typeface="Garamond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394960" cy="42062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900" b="1" i="0" u="none">
                <a:solidFill>
                  <a:srgbClr val="A81C5C"/>
                </a:solidFill>
                <a:latin typeface="Garamond"/>
              </a:rPr>
              <a:t>•  </a:t>
            </a:r>
            <a:r>
              <a:rPr sz="1900" b="0" i="0" u="none">
                <a:solidFill>
                  <a:srgbClr val="2A2E30"/>
                </a:solidFill>
                <a:latin typeface="Garamond"/>
              </a:rPr>
              <a:t>Built a complete ML pipeline predicting the bulk modulus of 10,987 crystals from structure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900" b="1" i="0" u="none">
                <a:solidFill>
                  <a:srgbClr val="A81C5C"/>
                </a:solidFill>
                <a:latin typeface="Garamond"/>
              </a:rPr>
              <a:t>•  </a:t>
            </a:r>
            <a:r>
              <a:rPr sz="1900" b="0" i="0" u="none">
                <a:solidFill>
                  <a:srgbClr val="2A2E30"/>
                </a:solidFill>
                <a:latin typeface="Garamond"/>
              </a:rPr>
              <a:t>Gradient Boosting best: </a:t>
            </a:r>
            <a:r>
              <a:rPr sz="1900" b="1" i="0" u="none">
                <a:solidFill>
                  <a:srgbClr val="2A2E30"/>
                </a:solidFill>
                <a:latin typeface="Garamond"/>
              </a:rPr>
              <a:t>R² = 0.906, MAE = 0.067 log10 (≈ 11 GPa)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900" b="1" i="0" u="none">
                <a:solidFill>
                  <a:srgbClr val="A81C5C"/>
                </a:solidFill>
                <a:latin typeface="Garamond"/>
              </a:rPr>
              <a:t>•  </a:t>
            </a:r>
            <a:r>
              <a:rPr sz="1900" b="0" i="0" u="none">
                <a:solidFill>
                  <a:srgbClr val="2A2E30"/>
                </a:solidFill>
                <a:latin typeface="Garamond"/>
              </a:rPr>
              <a:t>Tree ensembles clearly outperform Linear Regression and MLP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900" b="1" i="0" u="none">
                <a:solidFill>
                  <a:srgbClr val="A81C5C"/>
                </a:solidFill>
                <a:latin typeface="Garamond"/>
              </a:rPr>
              <a:t>•  </a:t>
            </a:r>
            <a:r>
              <a:rPr sz="1900" b="0" i="0" u="none">
                <a:solidFill>
                  <a:srgbClr val="2A2E30"/>
                </a:solidFill>
                <a:latin typeface="Garamond"/>
              </a:rPr>
              <a:t>Volume per atom and bond strength (melting point) are the dominant, physically meaningful descriptors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900" b="1" i="0" u="none">
                <a:solidFill>
                  <a:srgbClr val="A81C5C"/>
                </a:solidFill>
                <a:latin typeface="Garamond"/>
              </a:rPr>
              <a:t>•  </a:t>
            </a:r>
            <a:r>
              <a:rPr sz="1900" b="0" i="0" u="none">
                <a:solidFill>
                  <a:srgbClr val="2A2E30"/>
                </a:solidFill>
                <a:latin typeface="Garamond"/>
              </a:rPr>
              <a:t>Predictions in milliseconds vs. hours for DFT, enabling fast material screening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600200"/>
            <a:ext cx="512064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400" b="1" i="0" u="none">
                <a:solidFill>
                  <a:srgbClr val="A81C5C"/>
                </a:solidFill>
                <a:latin typeface="Garamond"/>
              </a:rPr>
              <a:t>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5120640" cy="29260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900" b="1" i="0" u="none">
                <a:solidFill>
                  <a:srgbClr val="A81C5C"/>
                </a:solidFill>
                <a:latin typeface="Garamond"/>
              </a:rPr>
              <a:t>•  </a:t>
            </a:r>
            <a:r>
              <a:rPr sz="1900" b="0" i="0" u="none">
                <a:solidFill>
                  <a:srgbClr val="2A2E30"/>
                </a:solidFill>
                <a:latin typeface="Garamond"/>
              </a:rPr>
              <a:t>Systematic hyper-parameter tuning (grid / Bayesian search)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900" b="1" i="0" u="none">
                <a:solidFill>
                  <a:srgbClr val="A81C5C"/>
                </a:solidFill>
                <a:latin typeface="Garamond"/>
              </a:rPr>
              <a:t>•  </a:t>
            </a:r>
            <a:r>
              <a:rPr sz="1900" b="0" i="0" u="none">
                <a:solidFill>
                  <a:srgbClr val="2A2E30"/>
                </a:solidFill>
                <a:latin typeface="Garamond"/>
              </a:rPr>
              <a:t>Graph neural networks (CGCNN, MEGNet) that learn directly from the atomic graph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900" b="1" i="0" u="none">
                <a:solidFill>
                  <a:srgbClr val="A81C5C"/>
                </a:solidFill>
                <a:latin typeface="Garamond"/>
              </a:rPr>
              <a:t>•  </a:t>
            </a:r>
            <a:r>
              <a:rPr sz="1900" b="0" i="0" u="none">
                <a:solidFill>
                  <a:srgbClr val="2A2E30"/>
                </a:solidFill>
                <a:latin typeface="Garamond"/>
              </a:rPr>
              <a:t>Evaluate on the official Matbench 5-fold protocol for leaderboard comparison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900" b="1" i="0" u="none">
                <a:solidFill>
                  <a:srgbClr val="A81C5C"/>
                </a:solidFill>
                <a:latin typeface="Garamond"/>
              </a:rPr>
              <a:t>•  </a:t>
            </a:r>
            <a:r>
              <a:rPr sz="1900" b="0" i="0" u="none">
                <a:solidFill>
                  <a:srgbClr val="2A2E30"/>
                </a:solidFill>
                <a:latin typeface="Garamond"/>
              </a:rPr>
              <a:t>Extend to shear modulus and other mechanical properties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5212080"/>
            <a:ext cx="5120640" cy="9144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400" b="1" i="0" u="none">
                <a:solidFill>
                  <a:srgbClr val="2A2E30"/>
                </a:solidFill>
                <a:latin typeface="Garamond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400" b="0" i="0" u="none">
                <a:solidFill>
                  <a:srgbClr val="6B7073"/>
                </a:solidFill>
                <a:latin typeface="Garamond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